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DM Sans Medium"/>
      <p:regular r:id="rId7"/>
      <p:bold r:id="rId8"/>
      <p:italic r:id="rId9"/>
      <p:boldItalic r:id="rId10"/>
    </p:embeddedFont>
    <p:embeddedFont>
      <p:font typeface="Poppins"/>
      <p:regular r:id="rId11"/>
      <p:bold r:id="rId12"/>
      <p:italic r:id="rId13"/>
      <p:boldItalic r:id="rId14"/>
    </p:embeddedFont>
    <p:embeddedFont>
      <p:font typeface="DM Sans Black"/>
      <p:bold r:id="rId15"/>
      <p:boldItalic r:id="rId16"/>
    </p:embeddedFont>
    <p:embeddedFont>
      <p:font typeface="DM Sans SemiBold"/>
      <p:regular r:id="rId17"/>
      <p:bold r:id="rId18"/>
      <p:italic r:id="rId19"/>
      <p:boldItalic r:id="rId20"/>
    </p:embeddedFont>
    <p:embeddedFont>
      <p:font typeface="Poppins SemiBold"/>
      <p:regular r:id="rId21"/>
      <p:bold r:id="rId22"/>
      <p:italic r:id="rId23"/>
      <p:boldItalic r:id="rId24"/>
    </p:embeddedFont>
    <p:embeddedFont>
      <p:font typeface="DM Sans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SemiBold-boldItalic.fntdata"/><Relationship Id="rId22" Type="http://schemas.openxmlformats.org/officeDocument/2006/relationships/font" Target="fonts/PoppinsSemiBold-bold.fntdata"/><Relationship Id="rId21" Type="http://schemas.openxmlformats.org/officeDocument/2006/relationships/font" Target="fonts/PoppinsSemiBold-regular.fntdata"/><Relationship Id="rId24" Type="http://schemas.openxmlformats.org/officeDocument/2006/relationships/font" Target="fonts/PoppinsSemiBold-boldItalic.fntdata"/><Relationship Id="rId23" Type="http://schemas.openxmlformats.org/officeDocument/2006/relationships/font" Target="fonts/PoppinsSemiBold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DMSansMedium-italic.fntdata"/><Relationship Id="rId26" Type="http://schemas.openxmlformats.org/officeDocument/2006/relationships/font" Target="fonts/DMSans-bold.fntdata"/><Relationship Id="rId25" Type="http://schemas.openxmlformats.org/officeDocument/2006/relationships/font" Target="fonts/DMSans-regular.fntdata"/><Relationship Id="rId28" Type="http://schemas.openxmlformats.org/officeDocument/2006/relationships/font" Target="fonts/DMSans-boldItalic.fntdata"/><Relationship Id="rId27" Type="http://schemas.openxmlformats.org/officeDocument/2006/relationships/font" Target="fonts/DMSans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DMSansMedium-regular.fntdata"/><Relationship Id="rId8" Type="http://schemas.openxmlformats.org/officeDocument/2006/relationships/font" Target="fonts/DMSansMedium-bold.fntdata"/><Relationship Id="rId11" Type="http://schemas.openxmlformats.org/officeDocument/2006/relationships/font" Target="fonts/Poppins-regular.fntdata"/><Relationship Id="rId10" Type="http://schemas.openxmlformats.org/officeDocument/2006/relationships/font" Target="fonts/DMSansMedium-boldItalic.fntdata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DMSansBlack-bold.fntdata"/><Relationship Id="rId14" Type="http://schemas.openxmlformats.org/officeDocument/2006/relationships/font" Target="fonts/Poppins-boldItalic.fntdata"/><Relationship Id="rId17" Type="http://schemas.openxmlformats.org/officeDocument/2006/relationships/font" Target="fonts/DMSansSemiBold-regular.fntdata"/><Relationship Id="rId16" Type="http://schemas.openxmlformats.org/officeDocument/2006/relationships/font" Target="fonts/DMSansBlack-boldItalic.fntdata"/><Relationship Id="rId19" Type="http://schemas.openxmlformats.org/officeDocument/2006/relationships/font" Target="fonts/DMSansSemiBold-italic.fntdata"/><Relationship Id="rId18" Type="http://schemas.openxmlformats.org/officeDocument/2006/relationships/font" Target="fonts/DMSansSemiBold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12.png"/><Relationship Id="rId22" Type="http://schemas.openxmlformats.org/officeDocument/2006/relationships/image" Target="../media/image30.png"/><Relationship Id="rId21" Type="http://schemas.openxmlformats.org/officeDocument/2006/relationships/image" Target="../media/image19.png"/><Relationship Id="rId24" Type="http://schemas.openxmlformats.org/officeDocument/2006/relationships/image" Target="../media/image28.png"/><Relationship Id="rId23" Type="http://schemas.openxmlformats.org/officeDocument/2006/relationships/image" Target="../media/image2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9" Type="http://schemas.openxmlformats.org/officeDocument/2006/relationships/image" Target="../media/image13.png"/><Relationship Id="rId26" Type="http://schemas.openxmlformats.org/officeDocument/2006/relationships/image" Target="../media/image22.png"/><Relationship Id="rId25" Type="http://schemas.openxmlformats.org/officeDocument/2006/relationships/image" Target="../media/image35.png"/><Relationship Id="rId28" Type="http://schemas.openxmlformats.org/officeDocument/2006/relationships/image" Target="../media/image36.png"/><Relationship Id="rId27" Type="http://schemas.openxmlformats.org/officeDocument/2006/relationships/image" Target="../media/image23.png"/><Relationship Id="rId5" Type="http://schemas.openxmlformats.org/officeDocument/2006/relationships/image" Target="../media/image5.png"/><Relationship Id="rId6" Type="http://schemas.openxmlformats.org/officeDocument/2006/relationships/image" Target="../media/image1.png"/><Relationship Id="rId29" Type="http://schemas.openxmlformats.org/officeDocument/2006/relationships/image" Target="../media/image24.png"/><Relationship Id="rId7" Type="http://schemas.openxmlformats.org/officeDocument/2006/relationships/image" Target="../media/image16.png"/><Relationship Id="rId8" Type="http://schemas.openxmlformats.org/officeDocument/2006/relationships/image" Target="../media/image3.png"/><Relationship Id="rId31" Type="http://schemas.openxmlformats.org/officeDocument/2006/relationships/image" Target="../media/image20.png"/><Relationship Id="rId30" Type="http://schemas.openxmlformats.org/officeDocument/2006/relationships/image" Target="../media/image31.png"/><Relationship Id="rId11" Type="http://schemas.openxmlformats.org/officeDocument/2006/relationships/image" Target="../media/image18.png"/><Relationship Id="rId33" Type="http://schemas.openxmlformats.org/officeDocument/2006/relationships/image" Target="../media/image25.png"/><Relationship Id="rId10" Type="http://schemas.openxmlformats.org/officeDocument/2006/relationships/image" Target="../media/image11.png"/><Relationship Id="rId32" Type="http://schemas.openxmlformats.org/officeDocument/2006/relationships/image" Target="../media/image32.png"/><Relationship Id="rId13" Type="http://schemas.openxmlformats.org/officeDocument/2006/relationships/image" Target="../media/image10.png"/><Relationship Id="rId35" Type="http://schemas.openxmlformats.org/officeDocument/2006/relationships/image" Target="../media/image29.png"/><Relationship Id="rId12" Type="http://schemas.openxmlformats.org/officeDocument/2006/relationships/image" Target="../media/image15.png"/><Relationship Id="rId34" Type="http://schemas.openxmlformats.org/officeDocument/2006/relationships/image" Target="../media/image26.png"/><Relationship Id="rId15" Type="http://schemas.openxmlformats.org/officeDocument/2006/relationships/image" Target="../media/image17.png"/><Relationship Id="rId37" Type="http://schemas.openxmlformats.org/officeDocument/2006/relationships/image" Target="../media/image34.png"/><Relationship Id="rId14" Type="http://schemas.openxmlformats.org/officeDocument/2006/relationships/image" Target="../media/image2.png"/><Relationship Id="rId36" Type="http://schemas.openxmlformats.org/officeDocument/2006/relationships/image" Target="../media/image33.png"/><Relationship Id="rId17" Type="http://schemas.openxmlformats.org/officeDocument/2006/relationships/image" Target="../media/image8.png"/><Relationship Id="rId16" Type="http://schemas.openxmlformats.org/officeDocument/2006/relationships/image" Target="../media/image7.png"/><Relationship Id="rId38" Type="http://schemas.openxmlformats.org/officeDocument/2006/relationships/image" Target="../media/image27.png"/><Relationship Id="rId19" Type="http://schemas.openxmlformats.org/officeDocument/2006/relationships/image" Target="../media/image6.png"/><Relationship Id="rId1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AFC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625" y="333375"/>
            <a:ext cx="2589014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8625" y="1386780"/>
            <a:ext cx="6310312" cy="452824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67537" y="1386780"/>
            <a:ext cx="4795837" cy="12147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967537" y="2753915"/>
            <a:ext cx="4795837" cy="316110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67562" y="3700611"/>
            <a:ext cx="4395787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67562" y="4062561"/>
            <a:ext cx="4395787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167562" y="4424511"/>
            <a:ext cx="4395787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7167562" y="4786461"/>
            <a:ext cx="4395787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7167562" y="3700611"/>
            <a:ext cx="2285702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7167562" y="4062561"/>
            <a:ext cx="1230808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7167562" y="4424511"/>
            <a:ext cx="615404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7167562" y="4786461"/>
            <a:ext cx="263723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428625" y="6067425"/>
            <a:ext cx="113347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8" name="Google Shape;98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2345531" y="2517427"/>
            <a:ext cx="2476500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9" name="Google Shape;99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115615" y="3603277"/>
            <a:ext cx="2000250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0" name="Google Shape;100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4432696" y="3650902"/>
            <a:ext cx="1238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1" name="Google Shape;101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820340" y="4317652"/>
            <a:ext cx="1238250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2" name="Google Shape;102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2172890" y="4317652"/>
            <a:ext cx="1238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3"/>
          <p:cNvSpPr txBox="1"/>
          <p:nvPr/>
        </p:nvSpPr>
        <p:spPr>
          <a:xfrm>
            <a:off x="542925" y="638175"/>
            <a:ext cx="11649075" cy="3199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Importância de Atributos na Árvore</a:t>
            </a:r>
            <a:endParaRPr/>
          </a:p>
        </p:txBody>
      </p:sp>
      <p:sp>
        <p:nvSpPr>
          <p:cNvPr id="104" name="Google Shape;104;p13"/>
          <p:cNvSpPr/>
          <p:nvPr/>
        </p:nvSpPr>
        <p:spPr>
          <a:xfrm>
            <a:off x="428625" y="638175"/>
            <a:ext cx="47625" cy="319980"/>
          </a:xfrm>
          <a:prstGeom prst="rect">
            <a:avLst/>
          </a:prstGeom>
          <a:solidFill>
            <a:srgbClr val="4F46E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p13"/>
          <p:cNvSpPr txBox="1"/>
          <p:nvPr/>
        </p:nvSpPr>
        <p:spPr>
          <a:xfrm>
            <a:off x="590550" y="996255"/>
            <a:ext cx="11172825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 posição do atributo no diagrama revela sua relevância: o nó do topo possui o maior poder de divisão (Ganho de Informação).</a:t>
            </a:r>
            <a:endParaRPr/>
          </a:p>
        </p:txBody>
      </p:sp>
      <p:sp>
        <p:nvSpPr>
          <p:cNvPr id="106" name="Google Shape;106;p13"/>
          <p:cNvSpPr txBox="1"/>
          <p:nvPr/>
        </p:nvSpPr>
        <p:spPr>
          <a:xfrm>
            <a:off x="619125" y="6215062"/>
            <a:ext cx="8505825" cy="161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Visão Executiva:</a:t>
            </a:r>
            <a:r>
              <a:rPr b="0" i="0" lang="en-US" sz="975" u="none" cap="none" strike="noStrike">
                <a:solidFill>
                  <a:srgbClr val="CBD5E1"/>
                </a:solidFill>
                <a:latin typeface="DM Sans Medium"/>
                <a:ea typeface="DM Sans Medium"/>
                <a:cs typeface="DM Sans Medium"/>
                <a:sym typeface="DM Sans Medium"/>
              </a:rPr>
              <a:t> A hierarquia visual garante 100% de transparência, permitindo justificar qualquer decisão para órgãos reguladores e clientes.</a:t>
            </a:r>
            <a:endParaRPr/>
          </a:p>
        </p:txBody>
      </p:sp>
      <p:pic>
        <p:nvPicPr>
          <p:cNvPr descr="image.png" id="107" name="Google Shape;107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10410825" y="6181725"/>
            <a:ext cx="11620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619125" y="6234112"/>
            <a:ext cx="95250" cy="12382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3"/>
          <p:cNvSpPr txBox="1"/>
          <p:nvPr/>
        </p:nvSpPr>
        <p:spPr>
          <a:xfrm>
            <a:off x="895350" y="1586805"/>
            <a:ext cx="2630328" cy="238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Exemplo: Concessão de Crédito</a:t>
            </a:r>
            <a:endParaRPr/>
          </a:p>
        </p:txBody>
      </p:sp>
      <p:pic>
        <p:nvPicPr>
          <p:cNvPr descr="image.png" id="110" name="Google Shape;110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5624512" y="1610617"/>
            <a:ext cx="8953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771525" y="5419725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12" name="Google Shape;112;p13"/>
          <p:cNvSpPr txBox="1"/>
          <p:nvPr/>
        </p:nvSpPr>
        <p:spPr>
          <a:xfrm>
            <a:off x="962025" y="5324475"/>
            <a:ext cx="5434012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Atributos no topo filtram a maioria dos casos. Quanto mais alto o nó, maior sua importância decisória.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7348537" y="1567755"/>
            <a:ext cx="4425553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Como o Modelo Define o Atributo #1?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7167562" y="1882080"/>
            <a:ext cx="4395787" cy="538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49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O algoritmo testa todas as variáveis (Renda, Score, Idade) e escolhe para a </a:t>
            </a:r>
            <a:r>
              <a:rPr b="1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Raiz</a:t>
            </a: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aquela que gera a melhor divisão dos dados (reduzindo o </a:t>
            </a:r>
            <a:r>
              <a:rPr b="0" i="1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Índice Gini</a:t>
            </a: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 ou a </a:t>
            </a:r>
            <a:r>
              <a:rPr b="0" i="1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Entropia</a:t>
            </a:r>
            <a:r>
              <a:rPr b="0" i="0" lang="en-US" sz="975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).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7386637" y="2934890"/>
            <a:ext cx="4385548" cy="2190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25" u="none" cap="none" strike="noStrike">
                <a:solidFill>
                  <a:srgbClr val="0F172A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Ranking de Importância (Feature Importance)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7167562" y="3249215"/>
            <a:ext cx="4395787" cy="1656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75569"/>
                </a:solidFill>
                <a:latin typeface="DM Sans"/>
                <a:ea typeface="DM Sans"/>
                <a:cs typeface="DM Sans"/>
                <a:sym typeface="DM Sans"/>
              </a:rPr>
              <a:t>Contribuição percentual de cada variável para o resultado final do modelo:</a:t>
            </a:r>
            <a:endParaRPr/>
          </a:p>
        </p:txBody>
      </p:sp>
      <p:pic>
        <p:nvPicPr>
          <p:cNvPr descr="image.png" id="117" name="Google Shape;117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647700" y="1629667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3574256" y="2422177"/>
            <a:ext cx="13239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2497931" y="2631727"/>
            <a:ext cx="217170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3335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Renda Mensal &gt; R$ 5.000</a:t>
            </a:r>
            <a:endParaRPr/>
          </a:p>
        </p:txBody>
      </p:sp>
      <p:sp>
        <p:nvSpPr>
          <p:cNvPr id="120" name="Google Shape;120;p13"/>
          <p:cNvSpPr txBox="1"/>
          <p:nvPr/>
        </p:nvSpPr>
        <p:spPr>
          <a:xfrm>
            <a:off x="2497931" y="2850802"/>
            <a:ext cx="2171700" cy="133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825" u="none" cap="none" strike="noStrike">
                <a:solidFill>
                  <a:srgbClr val="C7D2FE"/>
                </a:solidFill>
                <a:latin typeface="DM Sans"/>
                <a:ea typeface="DM Sans"/>
                <a:cs typeface="DM Sans"/>
                <a:sym typeface="DM Sans"/>
              </a:rPr>
              <a:t>Maior Ganho de Informação (Gini = 0.48)</a:t>
            </a:r>
            <a:endParaRPr/>
          </a:p>
        </p:txBody>
      </p:sp>
      <p:pic>
        <p:nvPicPr>
          <p:cNvPr descr="image.png" id="121" name="Google Shape;121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7167562" y="1605855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7167562" y="2972990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3650456" y="2465040"/>
            <a:ext cx="104775" cy="95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2621756" y="2660302"/>
            <a:ext cx="133350" cy="133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3"/>
          <p:cNvSpPr txBox="1"/>
          <p:nvPr/>
        </p:nvSpPr>
        <p:spPr>
          <a:xfrm>
            <a:off x="7167562" y="3510111"/>
            <a:ext cx="43957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4F46E5"/>
                </a:solidFill>
                <a:latin typeface="DM Sans Black"/>
                <a:ea typeface="DM Sans Black"/>
                <a:cs typeface="DM Sans Black"/>
                <a:sym typeface="DM Sans Black"/>
              </a:rPr>
              <a:t>1º</a:t>
            </a:r>
            <a:r>
              <a:rPr b="0" i="0" lang="en-US" sz="900" u="none" cap="none" strike="noStrike">
                <a:solidFill>
                  <a:srgbClr val="334155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Renda Mensal (Nó Raiz) 52%</a:t>
            </a:r>
            <a:endParaRPr/>
          </a:p>
        </p:txBody>
      </p:sp>
      <p:sp>
        <p:nvSpPr>
          <p:cNvPr id="126" name="Google Shape;126;p13"/>
          <p:cNvSpPr txBox="1"/>
          <p:nvPr/>
        </p:nvSpPr>
        <p:spPr>
          <a:xfrm>
            <a:off x="7167562" y="3872061"/>
            <a:ext cx="43957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DM Sans Black"/>
                <a:ea typeface="DM Sans Black"/>
                <a:cs typeface="DM Sans Black"/>
                <a:sym typeface="DM Sans Black"/>
              </a:rPr>
              <a:t>2º</a:t>
            </a:r>
            <a:r>
              <a:rPr b="0" i="0" lang="en-US" sz="900" u="none" cap="none" strike="noStrike">
                <a:solidFill>
                  <a:srgbClr val="334155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Score de Crédito 28%</a:t>
            </a:r>
            <a:endParaRPr/>
          </a:p>
        </p:txBody>
      </p:sp>
      <p:sp>
        <p:nvSpPr>
          <p:cNvPr id="127" name="Google Shape;127;p13"/>
          <p:cNvSpPr txBox="1"/>
          <p:nvPr/>
        </p:nvSpPr>
        <p:spPr>
          <a:xfrm>
            <a:off x="7167562" y="4234011"/>
            <a:ext cx="43957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DM Sans Black"/>
                <a:ea typeface="DM Sans Black"/>
                <a:cs typeface="DM Sans Black"/>
                <a:sym typeface="DM Sans Black"/>
              </a:rPr>
              <a:t>3º</a:t>
            </a:r>
            <a:r>
              <a:rPr b="0" i="0" lang="en-US" sz="900" u="none" cap="none" strike="noStrike">
                <a:solidFill>
                  <a:srgbClr val="334155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Histórico de Inadimplência 14%</a:t>
            </a:r>
            <a:endParaRPr/>
          </a:p>
        </p:txBody>
      </p:sp>
      <p:sp>
        <p:nvSpPr>
          <p:cNvPr id="128" name="Google Shape;128;p13"/>
          <p:cNvSpPr txBox="1"/>
          <p:nvPr/>
        </p:nvSpPr>
        <p:spPr>
          <a:xfrm>
            <a:off x="7167562" y="4595961"/>
            <a:ext cx="4395787" cy="152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334155"/>
                </a:solidFill>
                <a:latin typeface="DM Sans Black"/>
                <a:ea typeface="DM Sans Black"/>
                <a:cs typeface="DM Sans Black"/>
                <a:sym typeface="DM Sans Black"/>
              </a:rPr>
              <a:t>4º</a:t>
            </a:r>
            <a:r>
              <a:rPr b="0" i="0" lang="en-US" sz="900" u="none" cap="none" strike="noStrike">
                <a:solidFill>
                  <a:srgbClr val="334155"/>
                </a:solidFill>
                <a:latin typeface="DM Sans SemiBold"/>
                <a:ea typeface="DM Sans SemiBold"/>
                <a:cs typeface="DM Sans SemiBold"/>
                <a:sym typeface="DM Sans SemiBold"/>
              </a:rPr>
              <a:t> Tempo de Relacionamento 6%</a:t>
            </a:r>
            <a:endParaRPr/>
          </a:p>
        </p:txBody>
      </p:sp>
      <p:pic>
        <p:nvPicPr>
          <p:cNvPr descr="image.png" id="129" name="Google Shape;129;p13"/>
          <p:cNvPicPr preferRelativeResize="0"/>
          <p:nvPr/>
        </p:nvPicPr>
        <p:blipFill rotWithShape="1">
          <a:blip r:embed="rId30">
            <a:alphaModFix/>
          </a:blip>
          <a:srcRect b="0" l="0" r="0" t="0"/>
          <a:stretch/>
        </p:blipFill>
        <p:spPr>
          <a:xfrm>
            <a:off x="1791890" y="3384202"/>
            <a:ext cx="95250" cy="1047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3"/>
          <p:cNvSpPr txBox="1"/>
          <p:nvPr/>
        </p:nvSpPr>
        <p:spPr>
          <a:xfrm>
            <a:off x="1258490" y="3708052"/>
            <a:ext cx="17145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975" u="none" cap="none" strike="noStrike">
                <a:solidFill>
                  <a:srgbClr val="1E3A8A"/>
                </a:solidFill>
                <a:latin typeface="Poppins"/>
                <a:ea typeface="Poppins"/>
                <a:cs typeface="Poppins"/>
                <a:sym typeface="Poppins"/>
              </a:rPr>
              <a:t>Score de Crédito &gt; 700</a:t>
            </a:r>
            <a:endParaRPr/>
          </a:p>
        </p:txBody>
      </p:sp>
      <p:sp>
        <p:nvSpPr>
          <p:cNvPr id="131" name="Google Shape;131;p13"/>
          <p:cNvSpPr txBox="1"/>
          <p:nvPr/>
        </p:nvSpPr>
        <p:spPr>
          <a:xfrm>
            <a:off x="1258490" y="3898552"/>
            <a:ext cx="17145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87" u="none" cap="none" strike="noStrike">
                <a:solidFill>
                  <a:srgbClr val="3B82F6"/>
                </a:solidFill>
                <a:latin typeface="DM Sans"/>
                <a:ea typeface="DM Sans"/>
                <a:cs typeface="DM Sans"/>
                <a:sym typeface="DM Sans"/>
              </a:rPr>
              <a:t>2º Atributo mais relevante</a:t>
            </a:r>
            <a:endParaRPr/>
          </a:p>
        </p:txBody>
      </p:sp>
      <p:pic>
        <p:nvPicPr>
          <p:cNvPr descr="image.png" id="132" name="Google Shape;132;p13"/>
          <p:cNvPicPr preferRelativeResize="0"/>
          <p:nvPr/>
        </p:nvPicPr>
        <p:blipFill rotWithShape="1">
          <a:blip r:embed="rId31">
            <a:alphaModFix/>
          </a:blip>
          <a:srcRect b="0" l="0" r="0" t="0"/>
          <a:stretch/>
        </p:blipFill>
        <p:spPr>
          <a:xfrm>
            <a:off x="4732734" y="3384202"/>
            <a:ext cx="76200" cy="1047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3"/>
          <p:cNvPicPr preferRelativeResize="0"/>
          <p:nvPr/>
        </p:nvPicPr>
        <p:blipFill rotWithShape="1">
          <a:blip r:embed="rId32">
            <a:alphaModFix/>
          </a:blip>
          <a:srcRect b="0" l="0" r="0" t="0"/>
          <a:stretch/>
        </p:blipFill>
        <p:spPr>
          <a:xfrm>
            <a:off x="4589859" y="375567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3"/>
          <p:cNvSpPr txBox="1"/>
          <p:nvPr/>
        </p:nvSpPr>
        <p:spPr>
          <a:xfrm>
            <a:off x="4675584" y="3908077"/>
            <a:ext cx="752475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91B1B"/>
                </a:solidFill>
                <a:latin typeface="DM Sans"/>
                <a:ea typeface="DM Sans"/>
                <a:cs typeface="DM Sans"/>
                <a:sym typeface="DM Sans"/>
              </a:rPr>
              <a:t>Risco Alto Direto</a:t>
            </a:r>
            <a:endParaRPr/>
          </a:p>
        </p:txBody>
      </p:sp>
      <p:pic>
        <p:nvPicPr>
          <p:cNvPr descr="image.png" id="135" name="Google Shape;135;p13"/>
          <p:cNvPicPr preferRelativeResize="0"/>
          <p:nvPr/>
        </p:nvPicPr>
        <p:blipFill rotWithShape="1">
          <a:blip r:embed="rId33">
            <a:alphaModFix/>
          </a:blip>
          <a:srcRect b="0" l="0" r="0" t="0"/>
          <a:stretch/>
        </p:blipFill>
        <p:spPr>
          <a:xfrm>
            <a:off x="1272778" y="3736627"/>
            <a:ext cx="123825" cy="1238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6" name="Google Shape;136;p13"/>
          <p:cNvPicPr preferRelativeResize="0"/>
          <p:nvPr/>
        </p:nvPicPr>
        <p:blipFill rotWithShape="1">
          <a:blip r:embed="rId34">
            <a:alphaModFix/>
          </a:blip>
          <a:srcRect b="0" l="0" r="0" t="0"/>
          <a:stretch/>
        </p:blipFill>
        <p:spPr>
          <a:xfrm>
            <a:off x="1139428" y="442242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3"/>
          <p:cNvSpPr txBox="1"/>
          <p:nvPr/>
        </p:nvSpPr>
        <p:spPr>
          <a:xfrm>
            <a:off x="1191815" y="4574827"/>
            <a:ext cx="4953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065F46"/>
                </a:solidFill>
                <a:latin typeface="DM Sans"/>
                <a:ea typeface="DM Sans"/>
                <a:cs typeface="DM Sans"/>
                <a:sym typeface="DM Sans"/>
              </a:rPr>
              <a:t>Risco Baixo</a:t>
            </a:r>
            <a:endParaRPr/>
          </a:p>
        </p:txBody>
      </p:sp>
      <p:pic>
        <p:nvPicPr>
          <p:cNvPr descr="image.png" id="138" name="Google Shape;138;p13"/>
          <p:cNvPicPr preferRelativeResize="0"/>
          <p:nvPr/>
        </p:nvPicPr>
        <p:blipFill rotWithShape="1">
          <a:blip r:embed="rId35">
            <a:alphaModFix/>
          </a:blip>
          <a:srcRect b="0" l="0" r="0" t="0"/>
          <a:stretch/>
        </p:blipFill>
        <p:spPr>
          <a:xfrm>
            <a:off x="2306240" y="4422427"/>
            <a:ext cx="114300" cy="1143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3"/>
          <p:cNvSpPr txBox="1"/>
          <p:nvPr/>
        </p:nvSpPr>
        <p:spPr>
          <a:xfrm>
            <a:off x="2525315" y="4574827"/>
            <a:ext cx="533400" cy="1238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750" u="none" cap="none" strike="noStrike">
                <a:solidFill>
                  <a:srgbClr val="92400E"/>
                </a:solidFill>
                <a:latin typeface="DM Sans"/>
                <a:ea typeface="DM Sans"/>
                <a:cs typeface="DM Sans"/>
                <a:sym typeface="DM Sans"/>
              </a:rPr>
              <a:t>Risco Médio</a:t>
            </a:r>
            <a:endParaRPr/>
          </a:p>
        </p:txBody>
      </p:sp>
      <p:pic>
        <p:nvPicPr>
          <p:cNvPr descr="image.png" id="140" name="Google Shape;140;p13"/>
          <p:cNvPicPr preferRelativeResize="0"/>
          <p:nvPr/>
        </p:nvPicPr>
        <p:blipFill rotWithShape="1">
          <a:blip r:embed="rId36">
            <a:alphaModFix/>
          </a:blip>
          <a:srcRect b="0" l="0" r="0" t="0"/>
          <a:stretch/>
        </p:blipFill>
        <p:spPr>
          <a:xfrm>
            <a:off x="647700" y="2469802"/>
            <a:ext cx="5872162" cy="23717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3"/>
          <p:cNvPicPr preferRelativeResize="0"/>
          <p:nvPr/>
        </p:nvPicPr>
        <p:blipFill rotWithShape="1">
          <a:blip r:embed="rId37">
            <a:alphaModFix/>
          </a:blip>
          <a:srcRect b="0" l="0" r="0" t="0"/>
          <a:stretch/>
        </p:blipFill>
        <p:spPr>
          <a:xfrm>
            <a:off x="1706165" y="3336577"/>
            <a:ext cx="819150" cy="19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2" name="Google Shape;142;p13"/>
          <p:cNvPicPr preferRelativeResize="0"/>
          <p:nvPr/>
        </p:nvPicPr>
        <p:blipFill rotWithShape="1">
          <a:blip r:embed="rId38">
            <a:alphaModFix/>
          </a:blip>
          <a:srcRect b="0" l="0" r="0" t="0"/>
          <a:stretch/>
        </p:blipFill>
        <p:spPr>
          <a:xfrm>
            <a:off x="4647009" y="3336577"/>
            <a:ext cx="809625" cy="190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